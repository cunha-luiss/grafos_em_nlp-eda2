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Open Sans" charset="1" panose="020B0606030504020204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62772" cy="709824"/>
          </a:xfrm>
          <a:custGeom>
            <a:avLst/>
            <a:gdLst/>
            <a:ahLst/>
            <a:cxnLst/>
            <a:rect r="r" b="b" t="t" l="l"/>
            <a:pathLst>
              <a:path h="709824" w="762772">
                <a:moveTo>
                  <a:pt x="0" y="0"/>
                </a:moveTo>
                <a:lnTo>
                  <a:pt x="762772" y="0"/>
                </a:lnTo>
                <a:lnTo>
                  <a:pt x="762772" y="709824"/>
                </a:lnTo>
                <a:lnTo>
                  <a:pt x="0" y="70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48693" y="1383612"/>
            <a:ext cx="6310607" cy="7200900"/>
          </a:xfrm>
          <a:custGeom>
            <a:avLst/>
            <a:gdLst/>
            <a:ahLst/>
            <a:cxnLst/>
            <a:rect r="r" b="b" t="t" l="l"/>
            <a:pathLst>
              <a:path h="7200900" w="6310607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519831" y="-691855"/>
            <a:ext cx="1676063" cy="11497700"/>
            <a:chOff x="0" y="0"/>
            <a:chExt cx="441432" cy="3028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32" cy="3028201"/>
            </a:xfrm>
            <a:custGeom>
              <a:avLst/>
              <a:gdLst/>
              <a:ahLst/>
              <a:cxnLst/>
              <a:rect r="r" b="b" t="t" l="l"/>
              <a:pathLst>
                <a:path h="3028201" w="441432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H="true" flipV="true">
            <a:off x="10477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191738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1335726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6952274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7096262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2402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821873" y="8431133"/>
            <a:ext cx="3308669" cy="1654334"/>
          </a:xfrm>
          <a:custGeom>
            <a:avLst/>
            <a:gdLst/>
            <a:ahLst/>
            <a:cxnLst/>
            <a:rect r="r" b="b" t="t" l="l"/>
            <a:pathLst>
              <a:path h="1654334" w="3308669">
                <a:moveTo>
                  <a:pt x="0" y="0"/>
                </a:moveTo>
                <a:lnTo>
                  <a:pt x="3308668" y="0"/>
                </a:lnTo>
                <a:lnTo>
                  <a:pt x="3308668" y="1654334"/>
                </a:lnTo>
                <a:lnTo>
                  <a:pt x="0" y="16543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628993"/>
            <a:ext cx="9395007" cy="488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05"/>
              </a:lnSpc>
            </a:pPr>
            <a:r>
              <a:rPr lang="en-US" sz="121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Detecção de</a:t>
            </a:r>
          </a:p>
          <a:p>
            <a:pPr algn="l">
              <a:lnSpc>
                <a:spcPts val="12705"/>
              </a:lnSpc>
            </a:pPr>
            <a:r>
              <a:rPr lang="en-US" sz="121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tópicos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2956" y="972764"/>
            <a:ext cx="4324798" cy="10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EDA 2 2026.1 T01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Grupo 11 (Tema 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6918" y="7662142"/>
            <a:ext cx="10180361" cy="56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spc="-63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Transformando dados em estratégia de negócio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5029" y="2052305"/>
            <a:ext cx="7314271" cy="6182391"/>
          </a:xfrm>
          <a:custGeom>
            <a:avLst/>
            <a:gdLst/>
            <a:ahLst/>
            <a:cxnLst/>
            <a:rect r="r" b="b" t="t" l="l"/>
            <a:pathLst>
              <a:path h="6182391" w="7314271">
                <a:moveTo>
                  <a:pt x="0" y="0"/>
                </a:moveTo>
                <a:lnTo>
                  <a:pt x="7314271" y="0"/>
                </a:lnTo>
                <a:lnTo>
                  <a:pt x="7314271" y="6182390"/>
                </a:lnTo>
                <a:lnTo>
                  <a:pt x="0" y="6182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7736587" cy="124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68124"/>
            <a:ext cx="7140660" cy="511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Nossa equipe foi contratada por um resort de esportes que oferece todas as modalidades olímpicas aos seus hóspedes.</a:t>
            </a:r>
          </a:p>
          <a:p>
            <a:pPr algn="just">
              <a:lnSpc>
                <a:spcPts val="5039"/>
              </a:lnSpc>
            </a:pPr>
          </a:p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Nossa tarefa é organizar o site deles em áreas de interesse / categorias de esportes.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80713"/>
            <a:ext cx="8350744" cy="5177587"/>
          </a:xfrm>
          <a:custGeom>
            <a:avLst/>
            <a:gdLst/>
            <a:ahLst/>
            <a:cxnLst/>
            <a:rect r="r" b="b" t="t" l="l"/>
            <a:pathLst>
              <a:path h="5177587" w="8350744">
                <a:moveTo>
                  <a:pt x="0" y="0"/>
                </a:moveTo>
                <a:lnTo>
                  <a:pt x="8350744" y="0"/>
                </a:lnTo>
                <a:lnTo>
                  <a:pt x="8350744" y="5177587"/>
                </a:lnTo>
                <a:lnTo>
                  <a:pt x="0" y="5177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974720" y="1028700"/>
            <a:ext cx="1284580" cy="1284580"/>
          </a:xfrm>
          <a:custGeom>
            <a:avLst/>
            <a:gdLst/>
            <a:ahLst/>
            <a:cxnLst/>
            <a:rect r="r" b="b" t="t" l="l"/>
            <a:pathLst>
              <a:path h="1284580" w="1284580">
                <a:moveTo>
                  <a:pt x="1284580" y="1284580"/>
                </a:moveTo>
                <a:lnTo>
                  <a:pt x="0" y="1284580"/>
                </a:lnTo>
                <a:lnTo>
                  <a:pt x="0" y="0"/>
                </a:lnTo>
                <a:lnTo>
                  <a:pt x="1284580" y="0"/>
                </a:lnTo>
                <a:lnTo>
                  <a:pt x="1284580" y="128458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9346453" cy="247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entrada de 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75153" y="3975938"/>
            <a:ext cx="6884147" cy="384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Coletamos a descrição dos esportes olímpicos da wikipédia e usamos a biblioteca spaCy (Python) para buscar as palavras chaves das descrições.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431" y="453681"/>
            <a:ext cx="5988397" cy="124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3760" y="1863733"/>
            <a:ext cx="12541102" cy="128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Usando o json criamos grafos ponderados</a:t>
            </a:r>
          </a:p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Peso = características em comum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91060" y="7390920"/>
            <a:ext cx="2629460" cy="1678834"/>
            <a:chOff x="0" y="0"/>
            <a:chExt cx="786158" cy="5019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6158" cy="501939"/>
            </a:xfrm>
            <a:custGeom>
              <a:avLst/>
              <a:gdLst/>
              <a:ahLst/>
              <a:cxnLst/>
              <a:rect r="r" b="b" t="t" l="l"/>
              <a:pathLst>
                <a:path h="501939" w="786158">
                  <a:moveTo>
                    <a:pt x="393079" y="0"/>
                  </a:moveTo>
                  <a:cubicBezTo>
                    <a:pt x="175988" y="0"/>
                    <a:pt x="0" y="112363"/>
                    <a:pt x="0" y="250970"/>
                  </a:cubicBezTo>
                  <a:cubicBezTo>
                    <a:pt x="0" y="389576"/>
                    <a:pt x="175988" y="501939"/>
                    <a:pt x="393079" y="501939"/>
                  </a:cubicBezTo>
                  <a:cubicBezTo>
                    <a:pt x="610171" y="501939"/>
                    <a:pt x="786158" y="389576"/>
                    <a:pt x="786158" y="250970"/>
                  </a:cubicBezTo>
                  <a:cubicBezTo>
                    <a:pt x="786158" y="112363"/>
                    <a:pt x="610171" y="0"/>
                    <a:pt x="393079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3702" y="-19618"/>
              <a:ext cx="638754" cy="47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Atletismo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36760" y="8124038"/>
            <a:ext cx="2629460" cy="1678834"/>
            <a:chOff x="0" y="0"/>
            <a:chExt cx="786158" cy="5019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6158" cy="501939"/>
            </a:xfrm>
            <a:custGeom>
              <a:avLst/>
              <a:gdLst/>
              <a:ahLst/>
              <a:cxnLst/>
              <a:rect r="r" b="b" t="t" l="l"/>
              <a:pathLst>
                <a:path h="501939" w="786158">
                  <a:moveTo>
                    <a:pt x="393079" y="0"/>
                  </a:moveTo>
                  <a:cubicBezTo>
                    <a:pt x="175988" y="0"/>
                    <a:pt x="0" y="112363"/>
                    <a:pt x="0" y="250970"/>
                  </a:cubicBezTo>
                  <a:cubicBezTo>
                    <a:pt x="0" y="389576"/>
                    <a:pt x="175988" y="501939"/>
                    <a:pt x="393079" y="501939"/>
                  </a:cubicBezTo>
                  <a:cubicBezTo>
                    <a:pt x="610171" y="501939"/>
                    <a:pt x="786158" y="389576"/>
                    <a:pt x="786158" y="250970"/>
                  </a:cubicBezTo>
                  <a:cubicBezTo>
                    <a:pt x="786158" y="112363"/>
                    <a:pt x="610171" y="0"/>
                    <a:pt x="393079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3702" y="-19618"/>
              <a:ext cx="638754" cy="47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futebol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09821" y="4512091"/>
            <a:ext cx="2629460" cy="1678834"/>
            <a:chOff x="0" y="0"/>
            <a:chExt cx="786158" cy="5019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158" cy="501939"/>
            </a:xfrm>
            <a:custGeom>
              <a:avLst/>
              <a:gdLst/>
              <a:ahLst/>
              <a:cxnLst/>
              <a:rect r="r" b="b" t="t" l="l"/>
              <a:pathLst>
                <a:path h="501939" w="786158">
                  <a:moveTo>
                    <a:pt x="393079" y="0"/>
                  </a:moveTo>
                  <a:cubicBezTo>
                    <a:pt x="175988" y="0"/>
                    <a:pt x="0" y="112363"/>
                    <a:pt x="0" y="250970"/>
                  </a:cubicBezTo>
                  <a:cubicBezTo>
                    <a:pt x="0" y="389576"/>
                    <a:pt x="175988" y="501939"/>
                    <a:pt x="393079" y="501939"/>
                  </a:cubicBezTo>
                  <a:cubicBezTo>
                    <a:pt x="610171" y="501939"/>
                    <a:pt x="786158" y="389576"/>
                    <a:pt x="786158" y="250970"/>
                  </a:cubicBezTo>
                  <a:cubicBezTo>
                    <a:pt x="786158" y="112363"/>
                    <a:pt x="610171" y="0"/>
                    <a:pt x="393079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3702" y="-19618"/>
              <a:ext cx="638754" cy="47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vôlei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51490" y="3464666"/>
            <a:ext cx="2629460" cy="1678834"/>
            <a:chOff x="0" y="0"/>
            <a:chExt cx="786158" cy="5019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158" cy="501939"/>
            </a:xfrm>
            <a:custGeom>
              <a:avLst/>
              <a:gdLst/>
              <a:ahLst/>
              <a:cxnLst/>
              <a:rect r="r" b="b" t="t" l="l"/>
              <a:pathLst>
                <a:path h="501939" w="786158">
                  <a:moveTo>
                    <a:pt x="393079" y="0"/>
                  </a:moveTo>
                  <a:cubicBezTo>
                    <a:pt x="175988" y="0"/>
                    <a:pt x="0" y="112363"/>
                    <a:pt x="0" y="250970"/>
                  </a:cubicBezTo>
                  <a:cubicBezTo>
                    <a:pt x="0" y="389576"/>
                    <a:pt x="175988" y="501939"/>
                    <a:pt x="393079" y="501939"/>
                  </a:cubicBezTo>
                  <a:cubicBezTo>
                    <a:pt x="610171" y="501939"/>
                    <a:pt x="786158" y="389576"/>
                    <a:pt x="786158" y="250970"/>
                  </a:cubicBezTo>
                  <a:cubicBezTo>
                    <a:pt x="786158" y="112363"/>
                    <a:pt x="610171" y="0"/>
                    <a:pt x="393079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3702" y="-19618"/>
              <a:ext cx="638754" cy="47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basquete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00291" y="4330242"/>
            <a:ext cx="2198701" cy="1678834"/>
            <a:chOff x="0" y="0"/>
            <a:chExt cx="657370" cy="5019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7370" cy="501939"/>
            </a:xfrm>
            <a:custGeom>
              <a:avLst/>
              <a:gdLst/>
              <a:ahLst/>
              <a:cxnLst/>
              <a:rect r="r" b="b" t="t" l="l"/>
              <a:pathLst>
                <a:path h="501939" w="657370">
                  <a:moveTo>
                    <a:pt x="328685" y="0"/>
                  </a:moveTo>
                  <a:cubicBezTo>
                    <a:pt x="147157" y="0"/>
                    <a:pt x="0" y="112363"/>
                    <a:pt x="0" y="250970"/>
                  </a:cubicBezTo>
                  <a:cubicBezTo>
                    <a:pt x="0" y="389576"/>
                    <a:pt x="147157" y="501939"/>
                    <a:pt x="328685" y="501939"/>
                  </a:cubicBezTo>
                  <a:cubicBezTo>
                    <a:pt x="510212" y="501939"/>
                    <a:pt x="657370" y="389576"/>
                    <a:pt x="657370" y="250970"/>
                  </a:cubicBezTo>
                  <a:cubicBezTo>
                    <a:pt x="657370" y="112363"/>
                    <a:pt x="510212" y="0"/>
                    <a:pt x="328685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61628" y="-19618"/>
              <a:ext cx="534113" cy="47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natação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6317" y="7098266"/>
            <a:ext cx="2198701" cy="1678834"/>
            <a:chOff x="0" y="0"/>
            <a:chExt cx="657370" cy="5019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7370" cy="501939"/>
            </a:xfrm>
            <a:custGeom>
              <a:avLst/>
              <a:gdLst/>
              <a:ahLst/>
              <a:cxnLst/>
              <a:rect r="r" b="b" t="t" l="l"/>
              <a:pathLst>
                <a:path h="501939" w="657370">
                  <a:moveTo>
                    <a:pt x="328685" y="0"/>
                  </a:moveTo>
                  <a:cubicBezTo>
                    <a:pt x="147157" y="0"/>
                    <a:pt x="0" y="112363"/>
                    <a:pt x="0" y="250970"/>
                  </a:cubicBezTo>
                  <a:cubicBezTo>
                    <a:pt x="0" y="389576"/>
                    <a:pt x="147157" y="501939"/>
                    <a:pt x="328685" y="501939"/>
                  </a:cubicBezTo>
                  <a:cubicBezTo>
                    <a:pt x="510212" y="501939"/>
                    <a:pt x="657370" y="389576"/>
                    <a:pt x="657370" y="250970"/>
                  </a:cubicBezTo>
                  <a:cubicBezTo>
                    <a:pt x="657370" y="112363"/>
                    <a:pt x="510212" y="0"/>
                    <a:pt x="328685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61628" y="-19618"/>
              <a:ext cx="534113" cy="47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triatlo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2177400" y="8206583"/>
            <a:ext cx="5113660" cy="3575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>
            <a:off x="1327836" y="5518906"/>
            <a:ext cx="4029991" cy="15921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164311" y="5768294"/>
            <a:ext cx="1147105" cy="16437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6051330" y="5143500"/>
            <a:ext cx="814891" cy="30295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13880596" y="6112375"/>
            <a:ext cx="958056" cy="20116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4525286" y="4551662"/>
            <a:ext cx="1112157" cy="4574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050020" y="6240198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69593" y="7783982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72945" y="8497439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19200" y="6786961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04824" y="6993601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64688" y="4164562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10233" y="5772318"/>
            <a:ext cx="261396" cy="6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343734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AutoShape 35" id="35"/>
          <p:cNvSpPr/>
          <p:nvPr/>
        </p:nvSpPr>
        <p:spPr>
          <a:xfrm>
            <a:off x="9836926" y="8525525"/>
            <a:ext cx="4399834" cy="4379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3139" y="5669566"/>
            <a:ext cx="4882709" cy="3514709"/>
          </a:xfrm>
          <a:custGeom>
            <a:avLst/>
            <a:gdLst/>
            <a:ahLst/>
            <a:cxnLst/>
            <a:rect r="r" b="b" t="t" l="l"/>
            <a:pathLst>
              <a:path h="3514709" w="4882709">
                <a:moveTo>
                  <a:pt x="0" y="0"/>
                </a:moveTo>
                <a:lnTo>
                  <a:pt x="4882709" y="0"/>
                </a:lnTo>
                <a:lnTo>
                  <a:pt x="4882709" y="3514709"/>
                </a:lnTo>
                <a:lnTo>
                  <a:pt x="0" y="3514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53422" y="1123950"/>
            <a:ext cx="13781156" cy="124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Montagem do grafo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574113"/>
            <a:ext cx="9306911" cy="697231"/>
            <a:chOff x="0" y="0"/>
            <a:chExt cx="12409214" cy="92964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18654" y="0"/>
              <a:ext cx="929642" cy="92964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209777" y="0"/>
              <a:ext cx="11199437" cy="929642"/>
              <a:chOff x="0" y="0"/>
              <a:chExt cx="2933836" cy="24353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93383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2933836">
                    <a:moveTo>
                      <a:pt x="47007" y="0"/>
                    </a:moveTo>
                    <a:lnTo>
                      <a:pt x="2886829" y="0"/>
                    </a:lnTo>
                    <a:cubicBezTo>
                      <a:pt x="2899296" y="0"/>
                      <a:pt x="2911252" y="4952"/>
                      <a:pt x="2920068" y="13768"/>
                    </a:cubicBezTo>
                    <a:cubicBezTo>
                      <a:pt x="2928883" y="22583"/>
                      <a:pt x="2933836" y="34540"/>
                      <a:pt x="2933836" y="47007"/>
                    </a:cubicBezTo>
                    <a:lnTo>
                      <a:pt x="2933836" y="196525"/>
                    </a:lnTo>
                    <a:cubicBezTo>
                      <a:pt x="2933836" y="208992"/>
                      <a:pt x="2928883" y="220948"/>
                      <a:pt x="2920068" y="229764"/>
                    </a:cubicBezTo>
                    <a:cubicBezTo>
                      <a:pt x="2911252" y="238579"/>
                      <a:pt x="2899296" y="243532"/>
                      <a:pt x="2886829" y="243532"/>
                    </a:cubicBezTo>
                    <a:lnTo>
                      <a:pt x="47007" y="243532"/>
                    </a:lnTo>
                    <a:cubicBezTo>
                      <a:pt x="34540" y="243532"/>
                      <a:pt x="22583" y="238579"/>
                      <a:pt x="13768" y="229764"/>
                    </a:cubicBezTo>
                    <a:cubicBezTo>
                      <a:pt x="4952" y="220948"/>
                      <a:pt x="0" y="208992"/>
                      <a:pt x="0" y="196525"/>
                    </a:cubicBezTo>
                    <a:lnTo>
                      <a:pt x="0" y="47007"/>
                    </a:lnTo>
                    <a:cubicBezTo>
                      <a:pt x="0" y="34540"/>
                      <a:pt x="4952" y="22583"/>
                      <a:pt x="13768" y="13768"/>
                    </a:cubicBezTo>
                    <a:cubicBezTo>
                      <a:pt x="22583" y="4952"/>
                      <a:pt x="34540" y="0"/>
                      <a:pt x="47007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933836" cy="281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354630" y="90170"/>
              <a:ext cx="10909731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Hash para interpretar JSON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7224"/>
              <a:ext cx="1166950" cy="698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739876"/>
            <a:ext cx="9306911" cy="697231"/>
            <a:chOff x="0" y="0"/>
            <a:chExt cx="12409214" cy="92964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18654" y="0"/>
              <a:ext cx="929642" cy="929642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09777" y="0"/>
              <a:ext cx="11199437" cy="929642"/>
              <a:chOff x="0" y="0"/>
              <a:chExt cx="2933836" cy="24353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93383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2933836">
                    <a:moveTo>
                      <a:pt x="47007" y="0"/>
                    </a:moveTo>
                    <a:lnTo>
                      <a:pt x="2886829" y="0"/>
                    </a:lnTo>
                    <a:cubicBezTo>
                      <a:pt x="2899296" y="0"/>
                      <a:pt x="2911252" y="4952"/>
                      <a:pt x="2920068" y="13768"/>
                    </a:cubicBezTo>
                    <a:cubicBezTo>
                      <a:pt x="2928883" y="22583"/>
                      <a:pt x="2933836" y="34540"/>
                      <a:pt x="2933836" y="47007"/>
                    </a:cubicBezTo>
                    <a:lnTo>
                      <a:pt x="2933836" y="196525"/>
                    </a:lnTo>
                    <a:cubicBezTo>
                      <a:pt x="2933836" y="208992"/>
                      <a:pt x="2928883" y="220948"/>
                      <a:pt x="2920068" y="229764"/>
                    </a:cubicBezTo>
                    <a:cubicBezTo>
                      <a:pt x="2911252" y="238579"/>
                      <a:pt x="2899296" y="243532"/>
                      <a:pt x="2886829" y="243532"/>
                    </a:cubicBezTo>
                    <a:lnTo>
                      <a:pt x="47007" y="243532"/>
                    </a:lnTo>
                    <a:cubicBezTo>
                      <a:pt x="34540" y="243532"/>
                      <a:pt x="22583" y="238579"/>
                      <a:pt x="13768" y="229764"/>
                    </a:cubicBezTo>
                    <a:cubicBezTo>
                      <a:pt x="4952" y="220948"/>
                      <a:pt x="0" y="208992"/>
                      <a:pt x="0" y="196525"/>
                    </a:cubicBezTo>
                    <a:lnTo>
                      <a:pt x="0" y="47007"/>
                    </a:lnTo>
                    <a:cubicBezTo>
                      <a:pt x="0" y="34540"/>
                      <a:pt x="4952" y="22583"/>
                      <a:pt x="13768" y="13768"/>
                    </a:cubicBezTo>
                    <a:cubicBezTo>
                      <a:pt x="22583" y="4952"/>
                      <a:pt x="34540" y="0"/>
                      <a:pt x="47007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933836" cy="281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54630" y="90170"/>
              <a:ext cx="10909731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Modelagem do grafo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7224"/>
              <a:ext cx="1166950" cy="698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5903832"/>
            <a:ext cx="9306911" cy="697231"/>
            <a:chOff x="0" y="0"/>
            <a:chExt cx="12409214" cy="92964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18654" y="0"/>
              <a:ext cx="929642" cy="929642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209777" y="0"/>
              <a:ext cx="11199437" cy="929642"/>
              <a:chOff x="0" y="0"/>
              <a:chExt cx="2933836" cy="24353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93383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2933836">
                    <a:moveTo>
                      <a:pt x="47007" y="0"/>
                    </a:moveTo>
                    <a:lnTo>
                      <a:pt x="2886829" y="0"/>
                    </a:lnTo>
                    <a:cubicBezTo>
                      <a:pt x="2899296" y="0"/>
                      <a:pt x="2911252" y="4952"/>
                      <a:pt x="2920068" y="13768"/>
                    </a:cubicBezTo>
                    <a:cubicBezTo>
                      <a:pt x="2928883" y="22583"/>
                      <a:pt x="2933836" y="34540"/>
                      <a:pt x="2933836" y="47007"/>
                    </a:cubicBezTo>
                    <a:lnTo>
                      <a:pt x="2933836" y="196525"/>
                    </a:lnTo>
                    <a:cubicBezTo>
                      <a:pt x="2933836" y="208992"/>
                      <a:pt x="2928883" y="220948"/>
                      <a:pt x="2920068" y="229764"/>
                    </a:cubicBezTo>
                    <a:cubicBezTo>
                      <a:pt x="2911252" y="238579"/>
                      <a:pt x="2899296" y="243532"/>
                      <a:pt x="2886829" y="243532"/>
                    </a:cubicBezTo>
                    <a:lnTo>
                      <a:pt x="47007" y="243532"/>
                    </a:lnTo>
                    <a:cubicBezTo>
                      <a:pt x="34540" y="243532"/>
                      <a:pt x="22583" y="238579"/>
                      <a:pt x="13768" y="229764"/>
                    </a:cubicBezTo>
                    <a:cubicBezTo>
                      <a:pt x="4952" y="220948"/>
                      <a:pt x="0" y="208992"/>
                      <a:pt x="0" y="196525"/>
                    </a:cubicBezTo>
                    <a:lnTo>
                      <a:pt x="0" y="47007"/>
                    </a:lnTo>
                    <a:cubicBezTo>
                      <a:pt x="0" y="34540"/>
                      <a:pt x="4952" y="22583"/>
                      <a:pt x="13768" y="13768"/>
                    </a:cubicBezTo>
                    <a:cubicBezTo>
                      <a:pt x="22583" y="4952"/>
                      <a:pt x="34540" y="0"/>
                      <a:pt x="47007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933836" cy="281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354630" y="90170"/>
              <a:ext cx="10909731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Heap para auxiliar no kruskal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87224"/>
              <a:ext cx="1166950" cy="698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7067789"/>
            <a:ext cx="9306911" cy="697231"/>
            <a:chOff x="0" y="0"/>
            <a:chExt cx="12409214" cy="92964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118654" y="0"/>
              <a:ext cx="929642" cy="929642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09777" y="0"/>
              <a:ext cx="11199437" cy="929642"/>
              <a:chOff x="0" y="0"/>
              <a:chExt cx="2933836" cy="24353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93383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2933836">
                    <a:moveTo>
                      <a:pt x="47007" y="0"/>
                    </a:moveTo>
                    <a:lnTo>
                      <a:pt x="2886829" y="0"/>
                    </a:lnTo>
                    <a:cubicBezTo>
                      <a:pt x="2899296" y="0"/>
                      <a:pt x="2911252" y="4952"/>
                      <a:pt x="2920068" y="13768"/>
                    </a:cubicBezTo>
                    <a:cubicBezTo>
                      <a:pt x="2928883" y="22583"/>
                      <a:pt x="2933836" y="34540"/>
                      <a:pt x="2933836" y="47007"/>
                    </a:cubicBezTo>
                    <a:lnTo>
                      <a:pt x="2933836" y="196525"/>
                    </a:lnTo>
                    <a:cubicBezTo>
                      <a:pt x="2933836" y="208992"/>
                      <a:pt x="2928883" y="220948"/>
                      <a:pt x="2920068" y="229764"/>
                    </a:cubicBezTo>
                    <a:cubicBezTo>
                      <a:pt x="2911252" y="238579"/>
                      <a:pt x="2899296" y="243532"/>
                      <a:pt x="2886829" y="243532"/>
                    </a:cubicBezTo>
                    <a:lnTo>
                      <a:pt x="47007" y="243532"/>
                    </a:lnTo>
                    <a:cubicBezTo>
                      <a:pt x="34540" y="243532"/>
                      <a:pt x="22583" y="238579"/>
                      <a:pt x="13768" y="229764"/>
                    </a:cubicBezTo>
                    <a:cubicBezTo>
                      <a:pt x="4952" y="220948"/>
                      <a:pt x="0" y="208992"/>
                      <a:pt x="0" y="196525"/>
                    </a:cubicBezTo>
                    <a:lnTo>
                      <a:pt x="0" y="47007"/>
                    </a:lnTo>
                    <a:cubicBezTo>
                      <a:pt x="0" y="34540"/>
                      <a:pt x="4952" y="22583"/>
                      <a:pt x="13768" y="13768"/>
                    </a:cubicBezTo>
                    <a:cubicBezTo>
                      <a:pt x="22583" y="4952"/>
                      <a:pt x="34540" y="0"/>
                      <a:pt x="47007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933836" cy="281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354630" y="90170"/>
              <a:ext cx="10909731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Cortes para formar comunidades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87224"/>
              <a:ext cx="1166950" cy="698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942637" y="3497913"/>
            <a:ext cx="5903714" cy="157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Comunidades = grafo esparso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Usamos listas de adjacência e Kruskal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60"/>
            <a:ext cx="3804517" cy="5594879"/>
          </a:xfrm>
          <a:custGeom>
            <a:avLst/>
            <a:gdLst/>
            <a:ahLst/>
            <a:cxnLst/>
            <a:rect r="r" b="b" t="t" l="l"/>
            <a:pathLst>
              <a:path h="5594879" w="3804517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3251" y="732142"/>
            <a:ext cx="5738271" cy="5185311"/>
          </a:xfrm>
          <a:custGeom>
            <a:avLst/>
            <a:gdLst/>
            <a:ahLst/>
            <a:cxnLst/>
            <a:rect r="r" b="b" t="t" l="l"/>
            <a:pathLst>
              <a:path h="5185311" w="5738271">
                <a:moveTo>
                  <a:pt x="0" y="0"/>
                </a:moveTo>
                <a:lnTo>
                  <a:pt x="5738272" y="0"/>
                </a:lnTo>
                <a:lnTo>
                  <a:pt x="5738272" y="5185311"/>
                </a:lnTo>
                <a:lnTo>
                  <a:pt x="0" y="5185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14636" y="5917453"/>
            <a:ext cx="4695920" cy="4114800"/>
          </a:xfrm>
          <a:custGeom>
            <a:avLst/>
            <a:gdLst/>
            <a:ahLst/>
            <a:cxnLst/>
            <a:rect r="r" b="b" t="t" l="l"/>
            <a:pathLst>
              <a:path h="4114800" w="4695920">
                <a:moveTo>
                  <a:pt x="0" y="0"/>
                </a:moveTo>
                <a:lnTo>
                  <a:pt x="4695920" y="0"/>
                </a:lnTo>
                <a:lnTo>
                  <a:pt x="46959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47942"/>
            <a:ext cx="8833896" cy="124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4567" y="2769506"/>
            <a:ext cx="8260459" cy="107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Dificuldade em determinar: LIMIAR_PESO_COMUNIDADE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8968" y="4521997"/>
            <a:ext cx="8260459" cy="107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Se colocássemos 1 todos os esportes fariam parte da mesma comunidade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8968" y="5684105"/>
            <a:ext cx="8260459" cy="16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Qualquer outro valor os esportes ficavam sozinhos ou tinha um grupo imenso e o resto sozinho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36845" y="-197439"/>
            <a:ext cx="3765505" cy="11168682"/>
            <a:chOff x="0" y="0"/>
            <a:chExt cx="991738" cy="29415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1738" cy="2941546"/>
            </a:xfrm>
            <a:custGeom>
              <a:avLst/>
              <a:gdLst/>
              <a:ahLst/>
              <a:cxnLst/>
              <a:rect r="r" b="b" t="t" l="l"/>
              <a:pathLst>
                <a:path h="2941546" w="991738">
                  <a:moveTo>
                    <a:pt x="0" y="0"/>
                  </a:moveTo>
                  <a:lnTo>
                    <a:pt x="991738" y="0"/>
                  </a:lnTo>
                  <a:lnTo>
                    <a:pt x="991738" y="2941546"/>
                  </a:lnTo>
                  <a:lnTo>
                    <a:pt x="0" y="2941546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1738" cy="2979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5217" y="5823053"/>
            <a:ext cx="7255591" cy="4343381"/>
          </a:xfrm>
          <a:custGeom>
            <a:avLst/>
            <a:gdLst/>
            <a:ahLst/>
            <a:cxnLst/>
            <a:rect r="r" b="b" t="t" l="l"/>
            <a:pathLst>
              <a:path h="4343381" w="7255591">
                <a:moveTo>
                  <a:pt x="0" y="0"/>
                </a:moveTo>
                <a:lnTo>
                  <a:pt x="7255591" y="0"/>
                </a:lnTo>
                <a:lnTo>
                  <a:pt x="7255591" y="4343382"/>
                </a:lnTo>
                <a:lnTo>
                  <a:pt x="0" y="4343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1884" b="-3042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9928" y="2485602"/>
            <a:ext cx="13493820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 partir de dados extraídos da Wikipedia para cada um dos 75 esportes olímpicos, foi construído inicialmente um grafo bipartido com 391 vértices — 75 esportes e 316 características únicas — conectados por 1.077 arestas. Em seguida, esse grafo foi projetado em uma rede de 75 vértices, onde dois esportes são diretamente conectados por uma aresta cujo peso representa a quantidade de características que eles têm em comum.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06733" y="6506642"/>
            <a:ext cx="3527866" cy="3508623"/>
          </a:xfrm>
          <a:custGeom>
            <a:avLst/>
            <a:gdLst/>
            <a:ahLst/>
            <a:cxnLst/>
            <a:rect r="r" b="b" t="t" l="l"/>
            <a:pathLst>
              <a:path h="3508623" w="3527866">
                <a:moveTo>
                  <a:pt x="0" y="0"/>
                </a:moveTo>
                <a:lnTo>
                  <a:pt x="3527866" y="0"/>
                </a:lnTo>
                <a:lnTo>
                  <a:pt x="3527866" y="3508623"/>
                </a:lnTo>
                <a:lnTo>
                  <a:pt x="0" y="350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26042"/>
            <a:ext cx="1385401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Grafo Final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05318" y="8154600"/>
            <a:ext cx="1032145" cy="759325"/>
            <a:chOff x="0" y="0"/>
            <a:chExt cx="1104832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483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4832">
                  <a:moveTo>
                    <a:pt x="552416" y="0"/>
                  </a:moveTo>
                  <a:lnTo>
                    <a:pt x="606008" y="33348"/>
                  </a:lnTo>
                  <a:lnTo>
                    <a:pt x="667902" y="8881"/>
                  </a:lnTo>
                  <a:lnTo>
                    <a:pt x="710846" y="49652"/>
                  </a:lnTo>
                  <a:lnTo>
                    <a:pt x="778342" y="35135"/>
                  </a:lnTo>
                  <a:lnTo>
                    <a:pt x="808760" y="81548"/>
                  </a:lnTo>
                  <a:lnTo>
                    <a:pt x="878906" y="77616"/>
                  </a:lnTo>
                  <a:lnTo>
                    <a:pt x="895472" y="127641"/>
                  </a:lnTo>
                  <a:lnTo>
                    <a:pt x="965202" y="134465"/>
                  </a:lnTo>
                  <a:lnTo>
                    <a:pt x="967189" y="185918"/>
                  </a:lnTo>
                  <a:lnTo>
                    <a:pt x="1033459" y="203200"/>
                  </a:lnTo>
                  <a:lnTo>
                    <a:pt x="1020781" y="253830"/>
                  </a:lnTo>
                  <a:lnTo>
                    <a:pt x="1080688" y="280816"/>
                  </a:lnTo>
                  <a:lnTo>
                    <a:pt x="1053901" y="328411"/>
                  </a:lnTo>
                  <a:lnTo>
                    <a:pt x="1104832" y="363920"/>
                  </a:lnTo>
                  <a:lnTo>
                    <a:pt x="1065105" y="406400"/>
                  </a:lnTo>
                  <a:lnTo>
                    <a:pt x="1104832" y="448880"/>
                  </a:lnTo>
                  <a:lnTo>
                    <a:pt x="1053901" y="484389"/>
                  </a:lnTo>
                  <a:lnTo>
                    <a:pt x="1080688" y="531984"/>
                  </a:lnTo>
                  <a:lnTo>
                    <a:pt x="1020781" y="558970"/>
                  </a:lnTo>
                  <a:lnTo>
                    <a:pt x="1033459" y="609600"/>
                  </a:lnTo>
                  <a:lnTo>
                    <a:pt x="967189" y="626882"/>
                  </a:lnTo>
                  <a:lnTo>
                    <a:pt x="965202" y="678335"/>
                  </a:lnTo>
                  <a:lnTo>
                    <a:pt x="895472" y="685159"/>
                  </a:lnTo>
                  <a:lnTo>
                    <a:pt x="878906" y="735184"/>
                  </a:lnTo>
                  <a:lnTo>
                    <a:pt x="808760" y="731252"/>
                  </a:lnTo>
                  <a:lnTo>
                    <a:pt x="778342" y="777665"/>
                  </a:lnTo>
                  <a:lnTo>
                    <a:pt x="710846" y="763148"/>
                  </a:lnTo>
                  <a:lnTo>
                    <a:pt x="667902" y="803919"/>
                  </a:lnTo>
                  <a:lnTo>
                    <a:pt x="606008" y="779452"/>
                  </a:lnTo>
                  <a:lnTo>
                    <a:pt x="552416" y="812800"/>
                  </a:lnTo>
                  <a:lnTo>
                    <a:pt x="498825" y="779452"/>
                  </a:lnTo>
                  <a:lnTo>
                    <a:pt x="436930" y="803919"/>
                  </a:lnTo>
                  <a:lnTo>
                    <a:pt x="393987" y="763148"/>
                  </a:lnTo>
                  <a:lnTo>
                    <a:pt x="326490" y="777665"/>
                  </a:lnTo>
                  <a:lnTo>
                    <a:pt x="296073" y="731252"/>
                  </a:lnTo>
                  <a:lnTo>
                    <a:pt x="225926" y="735184"/>
                  </a:lnTo>
                  <a:lnTo>
                    <a:pt x="209361" y="685159"/>
                  </a:lnTo>
                  <a:lnTo>
                    <a:pt x="139630" y="678335"/>
                  </a:lnTo>
                  <a:lnTo>
                    <a:pt x="137642" y="626882"/>
                  </a:lnTo>
                  <a:lnTo>
                    <a:pt x="71375" y="609600"/>
                  </a:lnTo>
                  <a:lnTo>
                    <a:pt x="84052" y="558970"/>
                  </a:lnTo>
                  <a:lnTo>
                    <a:pt x="24143" y="531984"/>
                  </a:lnTo>
                  <a:lnTo>
                    <a:pt x="50931" y="484389"/>
                  </a:lnTo>
                  <a:lnTo>
                    <a:pt x="0" y="448880"/>
                  </a:lnTo>
                  <a:lnTo>
                    <a:pt x="39728" y="406400"/>
                  </a:lnTo>
                  <a:lnTo>
                    <a:pt x="0" y="363920"/>
                  </a:lnTo>
                  <a:lnTo>
                    <a:pt x="50931" y="328411"/>
                  </a:lnTo>
                  <a:lnTo>
                    <a:pt x="24143" y="280816"/>
                  </a:lnTo>
                  <a:lnTo>
                    <a:pt x="84052" y="253830"/>
                  </a:lnTo>
                  <a:lnTo>
                    <a:pt x="71375" y="203200"/>
                  </a:lnTo>
                  <a:lnTo>
                    <a:pt x="137642" y="185918"/>
                  </a:lnTo>
                  <a:lnTo>
                    <a:pt x="139630" y="134465"/>
                  </a:lnTo>
                  <a:lnTo>
                    <a:pt x="209361" y="127641"/>
                  </a:lnTo>
                  <a:lnTo>
                    <a:pt x="225926" y="77616"/>
                  </a:lnTo>
                  <a:lnTo>
                    <a:pt x="296073" y="81548"/>
                  </a:lnTo>
                  <a:lnTo>
                    <a:pt x="326490" y="35135"/>
                  </a:lnTo>
                  <a:lnTo>
                    <a:pt x="393987" y="49652"/>
                  </a:lnTo>
                  <a:lnTo>
                    <a:pt x="436930" y="8881"/>
                  </a:lnTo>
                  <a:lnTo>
                    <a:pt x="498825" y="33348"/>
                  </a:lnTo>
                  <a:lnTo>
                    <a:pt x="552416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07156" y="133350"/>
              <a:ext cx="690520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Futebol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06733" y="7774937"/>
            <a:ext cx="759325" cy="75932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52400" y="133350"/>
              <a:ext cx="508000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Boxe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36338" y="8938901"/>
            <a:ext cx="1291323" cy="759325"/>
            <a:chOff x="0" y="0"/>
            <a:chExt cx="1382263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82263" cy="812800"/>
            </a:xfrm>
            <a:custGeom>
              <a:avLst/>
              <a:gdLst/>
              <a:ahLst/>
              <a:cxnLst/>
              <a:rect r="r" b="b" t="t" l="l"/>
              <a:pathLst>
                <a:path h="812800" w="1382263">
                  <a:moveTo>
                    <a:pt x="691132" y="0"/>
                  </a:moveTo>
                  <a:lnTo>
                    <a:pt x="758180" y="33348"/>
                  </a:lnTo>
                  <a:lnTo>
                    <a:pt x="835617" y="8881"/>
                  </a:lnTo>
                  <a:lnTo>
                    <a:pt x="889344" y="49652"/>
                  </a:lnTo>
                  <a:lnTo>
                    <a:pt x="973789" y="35135"/>
                  </a:lnTo>
                  <a:lnTo>
                    <a:pt x="1011845" y="81548"/>
                  </a:lnTo>
                  <a:lnTo>
                    <a:pt x="1099606" y="77616"/>
                  </a:lnTo>
                  <a:lnTo>
                    <a:pt x="1120331" y="127641"/>
                  </a:lnTo>
                  <a:lnTo>
                    <a:pt x="1207571" y="134465"/>
                  </a:lnTo>
                  <a:lnTo>
                    <a:pt x="1210057" y="185918"/>
                  </a:lnTo>
                  <a:lnTo>
                    <a:pt x="1292967" y="203200"/>
                  </a:lnTo>
                  <a:lnTo>
                    <a:pt x="1277105" y="253830"/>
                  </a:lnTo>
                  <a:lnTo>
                    <a:pt x="1352057" y="280816"/>
                  </a:lnTo>
                  <a:lnTo>
                    <a:pt x="1318543" y="328411"/>
                  </a:lnTo>
                  <a:lnTo>
                    <a:pt x="1382263" y="363920"/>
                  </a:lnTo>
                  <a:lnTo>
                    <a:pt x="1332560" y="406400"/>
                  </a:lnTo>
                  <a:lnTo>
                    <a:pt x="1382263" y="448880"/>
                  </a:lnTo>
                  <a:lnTo>
                    <a:pt x="1318543" y="484389"/>
                  </a:lnTo>
                  <a:lnTo>
                    <a:pt x="1352057" y="531984"/>
                  </a:lnTo>
                  <a:lnTo>
                    <a:pt x="1277105" y="558970"/>
                  </a:lnTo>
                  <a:lnTo>
                    <a:pt x="1292967" y="609600"/>
                  </a:lnTo>
                  <a:lnTo>
                    <a:pt x="1210057" y="626882"/>
                  </a:lnTo>
                  <a:lnTo>
                    <a:pt x="1207571" y="678335"/>
                  </a:lnTo>
                  <a:lnTo>
                    <a:pt x="1120331" y="685159"/>
                  </a:lnTo>
                  <a:lnTo>
                    <a:pt x="1099606" y="735184"/>
                  </a:lnTo>
                  <a:lnTo>
                    <a:pt x="1011845" y="731252"/>
                  </a:lnTo>
                  <a:lnTo>
                    <a:pt x="973789" y="777665"/>
                  </a:lnTo>
                  <a:lnTo>
                    <a:pt x="889344" y="763148"/>
                  </a:lnTo>
                  <a:lnTo>
                    <a:pt x="835617" y="803919"/>
                  </a:lnTo>
                  <a:lnTo>
                    <a:pt x="758180" y="779452"/>
                  </a:lnTo>
                  <a:lnTo>
                    <a:pt x="691132" y="812800"/>
                  </a:lnTo>
                  <a:lnTo>
                    <a:pt x="624083" y="779452"/>
                  </a:lnTo>
                  <a:lnTo>
                    <a:pt x="546646" y="803919"/>
                  </a:lnTo>
                  <a:lnTo>
                    <a:pt x="492919" y="763148"/>
                  </a:lnTo>
                  <a:lnTo>
                    <a:pt x="408474" y="777665"/>
                  </a:lnTo>
                  <a:lnTo>
                    <a:pt x="370418" y="731252"/>
                  </a:lnTo>
                  <a:lnTo>
                    <a:pt x="282658" y="735184"/>
                  </a:lnTo>
                  <a:lnTo>
                    <a:pt x="261932" y="685159"/>
                  </a:lnTo>
                  <a:lnTo>
                    <a:pt x="174692" y="678335"/>
                  </a:lnTo>
                  <a:lnTo>
                    <a:pt x="172205" y="626882"/>
                  </a:lnTo>
                  <a:lnTo>
                    <a:pt x="89297" y="609600"/>
                  </a:lnTo>
                  <a:lnTo>
                    <a:pt x="105158" y="558970"/>
                  </a:lnTo>
                  <a:lnTo>
                    <a:pt x="30206" y="531984"/>
                  </a:lnTo>
                  <a:lnTo>
                    <a:pt x="63720" y="484389"/>
                  </a:lnTo>
                  <a:lnTo>
                    <a:pt x="0" y="448880"/>
                  </a:lnTo>
                  <a:lnTo>
                    <a:pt x="49703" y="406400"/>
                  </a:lnTo>
                  <a:lnTo>
                    <a:pt x="0" y="363920"/>
                  </a:lnTo>
                  <a:lnTo>
                    <a:pt x="63720" y="328411"/>
                  </a:lnTo>
                  <a:lnTo>
                    <a:pt x="30206" y="280816"/>
                  </a:lnTo>
                  <a:lnTo>
                    <a:pt x="105158" y="253830"/>
                  </a:lnTo>
                  <a:lnTo>
                    <a:pt x="89297" y="203200"/>
                  </a:lnTo>
                  <a:lnTo>
                    <a:pt x="172205" y="185918"/>
                  </a:lnTo>
                  <a:lnTo>
                    <a:pt x="174692" y="134465"/>
                  </a:lnTo>
                  <a:lnTo>
                    <a:pt x="261932" y="127641"/>
                  </a:lnTo>
                  <a:lnTo>
                    <a:pt x="282658" y="77616"/>
                  </a:lnTo>
                  <a:lnTo>
                    <a:pt x="370418" y="81548"/>
                  </a:lnTo>
                  <a:lnTo>
                    <a:pt x="408474" y="35135"/>
                  </a:lnTo>
                  <a:lnTo>
                    <a:pt x="492919" y="49652"/>
                  </a:lnTo>
                  <a:lnTo>
                    <a:pt x="546646" y="8881"/>
                  </a:lnTo>
                  <a:lnTo>
                    <a:pt x="624083" y="33348"/>
                  </a:lnTo>
                  <a:lnTo>
                    <a:pt x="691132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59174" y="133350"/>
              <a:ext cx="863915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Basquete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7800" y="7165155"/>
            <a:ext cx="759325" cy="7593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133350"/>
              <a:ext cx="508000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Judô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482000" y="6383914"/>
            <a:ext cx="923017" cy="759325"/>
            <a:chOff x="0" y="0"/>
            <a:chExt cx="988019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8020" cy="812800"/>
            </a:xfrm>
            <a:custGeom>
              <a:avLst/>
              <a:gdLst/>
              <a:ahLst/>
              <a:cxnLst/>
              <a:rect r="r" b="b" t="t" l="l"/>
              <a:pathLst>
                <a:path h="812800" w="988020">
                  <a:moveTo>
                    <a:pt x="494010" y="0"/>
                  </a:moveTo>
                  <a:lnTo>
                    <a:pt x="541935" y="33348"/>
                  </a:lnTo>
                  <a:lnTo>
                    <a:pt x="597286" y="8881"/>
                  </a:lnTo>
                  <a:lnTo>
                    <a:pt x="635689" y="49652"/>
                  </a:lnTo>
                  <a:lnTo>
                    <a:pt x="696049" y="35135"/>
                  </a:lnTo>
                  <a:lnTo>
                    <a:pt x="723250" y="81548"/>
                  </a:lnTo>
                  <a:lnTo>
                    <a:pt x="785980" y="77616"/>
                  </a:lnTo>
                  <a:lnTo>
                    <a:pt x="800794" y="127641"/>
                  </a:lnTo>
                  <a:lnTo>
                    <a:pt x="863152" y="134465"/>
                  </a:lnTo>
                  <a:lnTo>
                    <a:pt x="864929" y="185918"/>
                  </a:lnTo>
                  <a:lnTo>
                    <a:pt x="924192" y="203200"/>
                  </a:lnTo>
                  <a:lnTo>
                    <a:pt x="912854" y="253830"/>
                  </a:lnTo>
                  <a:lnTo>
                    <a:pt x="966428" y="280816"/>
                  </a:lnTo>
                  <a:lnTo>
                    <a:pt x="942473" y="328411"/>
                  </a:lnTo>
                  <a:lnTo>
                    <a:pt x="988020" y="363920"/>
                  </a:lnTo>
                  <a:lnTo>
                    <a:pt x="952492" y="406400"/>
                  </a:lnTo>
                  <a:lnTo>
                    <a:pt x="988020" y="448880"/>
                  </a:lnTo>
                  <a:lnTo>
                    <a:pt x="942473" y="484389"/>
                  </a:lnTo>
                  <a:lnTo>
                    <a:pt x="966428" y="531984"/>
                  </a:lnTo>
                  <a:lnTo>
                    <a:pt x="912854" y="558970"/>
                  </a:lnTo>
                  <a:lnTo>
                    <a:pt x="924192" y="609600"/>
                  </a:lnTo>
                  <a:lnTo>
                    <a:pt x="864929" y="626882"/>
                  </a:lnTo>
                  <a:lnTo>
                    <a:pt x="863152" y="678335"/>
                  </a:lnTo>
                  <a:lnTo>
                    <a:pt x="800794" y="685159"/>
                  </a:lnTo>
                  <a:lnTo>
                    <a:pt x="785980" y="735184"/>
                  </a:lnTo>
                  <a:lnTo>
                    <a:pt x="723250" y="731252"/>
                  </a:lnTo>
                  <a:lnTo>
                    <a:pt x="696049" y="777665"/>
                  </a:lnTo>
                  <a:lnTo>
                    <a:pt x="635689" y="763148"/>
                  </a:lnTo>
                  <a:lnTo>
                    <a:pt x="597286" y="803919"/>
                  </a:lnTo>
                  <a:lnTo>
                    <a:pt x="541935" y="779452"/>
                  </a:lnTo>
                  <a:lnTo>
                    <a:pt x="494010" y="812800"/>
                  </a:lnTo>
                  <a:lnTo>
                    <a:pt x="446085" y="779452"/>
                  </a:lnTo>
                  <a:lnTo>
                    <a:pt x="390734" y="803919"/>
                  </a:lnTo>
                  <a:lnTo>
                    <a:pt x="352331" y="763148"/>
                  </a:lnTo>
                  <a:lnTo>
                    <a:pt x="291971" y="777665"/>
                  </a:lnTo>
                  <a:lnTo>
                    <a:pt x="264769" y="731252"/>
                  </a:lnTo>
                  <a:lnTo>
                    <a:pt x="202039" y="735184"/>
                  </a:lnTo>
                  <a:lnTo>
                    <a:pt x="187225" y="685159"/>
                  </a:lnTo>
                  <a:lnTo>
                    <a:pt x="124867" y="678335"/>
                  </a:lnTo>
                  <a:lnTo>
                    <a:pt x="123090" y="626882"/>
                  </a:lnTo>
                  <a:lnTo>
                    <a:pt x="63828" y="609600"/>
                  </a:lnTo>
                  <a:lnTo>
                    <a:pt x="75165" y="558970"/>
                  </a:lnTo>
                  <a:lnTo>
                    <a:pt x="21591" y="531984"/>
                  </a:lnTo>
                  <a:lnTo>
                    <a:pt x="45546" y="484389"/>
                  </a:lnTo>
                  <a:lnTo>
                    <a:pt x="0" y="448880"/>
                  </a:lnTo>
                  <a:lnTo>
                    <a:pt x="35527" y="406400"/>
                  </a:lnTo>
                  <a:lnTo>
                    <a:pt x="0" y="363920"/>
                  </a:lnTo>
                  <a:lnTo>
                    <a:pt x="45546" y="328411"/>
                  </a:lnTo>
                  <a:lnTo>
                    <a:pt x="21591" y="280816"/>
                  </a:lnTo>
                  <a:lnTo>
                    <a:pt x="75165" y="253830"/>
                  </a:lnTo>
                  <a:lnTo>
                    <a:pt x="63828" y="203200"/>
                  </a:lnTo>
                  <a:lnTo>
                    <a:pt x="123090" y="185918"/>
                  </a:lnTo>
                  <a:lnTo>
                    <a:pt x="124867" y="134465"/>
                  </a:lnTo>
                  <a:lnTo>
                    <a:pt x="187225" y="127641"/>
                  </a:lnTo>
                  <a:lnTo>
                    <a:pt x="202039" y="77616"/>
                  </a:lnTo>
                  <a:lnTo>
                    <a:pt x="264769" y="81548"/>
                  </a:lnTo>
                  <a:lnTo>
                    <a:pt x="291971" y="35135"/>
                  </a:lnTo>
                  <a:lnTo>
                    <a:pt x="352331" y="49652"/>
                  </a:lnTo>
                  <a:lnTo>
                    <a:pt x="390734" y="8881"/>
                  </a:lnTo>
                  <a:lnTo>
                    <a:pt x="446085" y="33348"/>
                  </a:lnTo>
                  <a:lnTo>
                    <a:pt x="49401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85254" y="133350"/>
              <a:ext cx="617512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Karatê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156156" y="6622734"/>
            <a:ext cx="759325" cy="7593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52400" y="133350"/>
              <a:ext cx="508000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LUTA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74931" y="7881291"/>
            <a:ext cx="759325" cy="7593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52400" y="133350"/>
              <a:ext cx="508000" cy="5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  <a:r>
                <a:rPr lang="en-US" sz="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Vôlei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10215" y="8847255"/>
            <a:ext cx="20321213" cy="701393"/>
            <a:chOff x="0" y="0"/>
            <a:chExt cx="5352089" cy="18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52089" cy="184729"/>
            </a:xfrm>
            <a:custGeom>
              <a:avLst/>
              <a:gdLst/>
              <a:ahLst/>
              <a:cxnLst/>
              <a:rect r="r" b="b" t="t" l="l"/>
              <a:pathLst>
                <a:path h="184729" w="5352089">
                  <a:moveTo>
                    <a:pt x="0" y="0"/>
                  </a:moveTo>
                  <a:lnTo>
                    <a:pt x="5352089" y="0"/>
                  </a:lnTo>
                  <a:lnTo>
                    <a:pt x="5352089" y="184729"/>
                  </a:lnTo>
                  <a:lnTo>
                    <a:pt x="0" y="184729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352089" cy="241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00003" y="1123950"/>
            <a:ext cx="14287995" cy="247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Árvore Geradora Máxima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0357" y="6901898"/>
            <a:ext cx="18107287" cy="1482358"/>
          </a:xfrm>
          <a:custGeom>
            <a:avLst/>
            <a:gdLst/>
            <a:ahLst/>
            <a:cxnLst/>
            <a:rect r="r" b="b" t="t" l="l"/>
            <a:pathLst>
              <a:path h="1482358" w="18107287">
                <a:moveTo>
                  <a:pt x="0" y="0"/>
                </a:moveTo>
                <a:lnTo>
                  <a:pt x="18107286" y="0"/>
                </a:lnTo>
                <a:lnTo>
                  <a:pt x="18107286" y="1482358"/>
                </a:lnTo>
                <a:lnTo>
                  <a:pt x="0" y="1482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3762375"/>
            <a:ext cx="18288000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Sobre o grafo, foi construída uma Árvore Geradora Máxima (MST), que seleciona apenas as conexões mais fortes entre os nós, eliminando redundâncias e revelando o "esqueleto" das relações. Esse passo prioriza as associações mais representativas — por exemplo, as cinco mais frequentes na Wikipedia foram skate, rugby, tiro, arte marcial e gelo — indicando quais termos mais definem seus respectivos esportes.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59384" y="-675769"/>
            <a:ext cx="1773784" cy="11876099"/>
            <a:chOff x="0" y="0"/>
            <a:chExt cx="467170" cy="3127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170" cy="3127862"/>
            </a:xfrm>
            <a:custGeom>
              <a:avLst/>
              <a:gdLst/>
              <a:ahLst/>
              <a:cxnLst/>
              <a:rect r="r" b="b" t="t" l="l"/>
              <a:pathLst>
                <a:path h="3127862" w="467170">
                  <a:moveTo>
                    <a:pt x="0" y="0"/>
                  </a:moveTo>
                  <a:lnTo>
                    <a:pt x="467170" y="0"/>
                  </a:lnTo>
                  <a:lnTo>
                    <a:pt x="467170" y="3127862"/>
                  </a:lnTo>
                  <a:lnTo>
                    <a:pt x="0" y="3127862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7170" cy="318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79307" y="214190"/>
            <a:ext cx="6437154" cy="9858621"/>
          </a:xfrm>
          <a:custGeom>
            <a:avLst/>
            <a:gdLst/>
            <a:ahLst/>
            <a:cxnLst/>
            <a:rect r="r" b="b" t="t" l="l"/>
            <a:pathLst>
              <a:path h="9858621" w="6437154">
                <a:moveTo>
                  <a:pt x="0" y="0"/>
                </a:moveTo>
                <a:lnTo>
                  <a:pt x="6437154" y="0"/>
                </a:lnTo>
                <a:lnTo>
                  <a:pt x="6437154" y="9858620"/>
                </a:lnTo>
                <a:lnTo>
                  <a:pt x="0" y="9858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1385401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Comunidades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744" y="2788261"/>
            <a:ext cx="7282738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Com critério mínimo de 3 características em comum para agrupar dois esportes (com resgate de pares isolados a partir de 2), o algoritmo identificou 18 comunidades. Cada comunidade reúne esportes que a Wikipedia descreve com um vocabulário semelhante, o que equivale a dizer que compartilham elementos estruturais, físicos ou de contexto.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113698" y="1028700"/>
            <a:ext cx="1145602" cy="1145602"/>
          </a:xfrm>
          <a:custGeom>
            <a:avLst/>
            <a:gdLst/>
            <a:ahLst/>
            <a:cxnLst/>
            <a:rect r="r" b="b" t="t" l="l"/>
            <a:pathLst>
              <a:path h="1145602" w="1145602">
                <a:moveTo>
                  <a:pt x="1145602" y="1145602"/>
                </a:moveTo>
                <a:lnTo>
                  <a:pt x="0" y="1145602"/>
                </a:lnTo>
                <a:lnTo>
                  <a:pt x="0" y="0"/>
                </a:lnTo>
                <a:lnTo>
                  <a:pt x="1145602" y="0"/>
                </a:lnTo>
                <a:lnTo>
                  <a:pt x="1145602" y="11456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113698" y="8112698"/>
            <a:ext cx="1145602" cy="1145602"/>
          </a:xfrm>
          <a:custGeom>
            <a:avLst/>
            <a:gdLst/>
            <a:ahLst/>
            <a:cxnLst/>
            <a:rect r="r" b="b" t="t" l="l"/>
            <a:pathLst>
              <a:path h="1145602" w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11935" y="2822869"/>
            <a:ext cx="7464131" cy="7464131"/>
          </a:xfrm>
          <a:custGeom>
            <a:avLst/>
            <a:gdLst/>
            <a:ahLst/>
            <a:cxnLst/>
            <a:rect r="r" b="b" t="t" l="l"/>
            <a:pathLst>
              <a:path h="7464131" w="7464131">
                <a:moveTo>
                  <a:pt x="0" y="0"/>
                </a:moveTo>
                <a:lnTo>
                  <a:pt x="7464130" y="0"/>
                </a:lnTo>
                <a:lnTo>
                  <a:pt x="7464130" y="7464131"/>
                </a:lnTo>
                <a:lnTo>
                  <a:pt x="0" y="7464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12146"/>
            <a:ext cx="14608693" cy="247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Visualização das Comunidades no MST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29308" y="1698942"/>
            <a:ext cx="8588058" cy="8588058"/>
          </a:xfrm>
          <a:custGeom>
            <a:avLst/>
            <a:gdLst/>
            <a:ahLst/>
            <a:cxnLst/>
            <a:rect r="r" b="b" t="t" l="l"/>
            <a:pathLst>
              <a:path h="8588058" w="8588058">
                <a:moveTo>
                  <a:pt x="0" y="0"/>
                </a:moveTo>
                <a:lnTo>
                  <a:pt x="8588058" y="0"/>
                </a:lnTo>
                <a:lnTo>
                  <a:pt x="8588058" y="8588058"/>
                </a:lnTo>
                <a:lnTo>
                  <a:pt x="0" y="8588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53708"/>
            <a:ext cx="1385401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Grafo antes da Poda...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493290" y="4865060"/>
            <a:ext cx="3804517" cy="5594879"/>
          </a:xfrm>
          <a:custGeom>
            <a:avLst/>
            <a:gdLst/>
            <a:ahLst/>
            <a:cxnLst/>
            <a:rect r="r" b="b" t="t" l="l"/>
            <a:pathLst>
              <a:path h="5594879" w="3804517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28700" y="1028700"/>
            <a:ext cx="1015236" cy="1015236"/>
          </a:xfrm>
          <a:custGeom>
            <a:avLst/>
            <a:gdLst/>
            <a:ahLst/>
            <a:cxnLst/>
            <a:rect r="r" b="b" t="t" l="l"/>
            <a:pathLst>
              <a:path h="1015236" w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9653" y="1123950"/>
            <a:ext cx="14608693" cy="247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Uma Observação interessante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6244064" y="1028700"/>
            <a:ext cx="1015236" cy="1015236"/>
          </a:xfrm>
          <a:custGeom>
            <a:avLst/>
            <a:gdLst/>
            <a:ahLst/>
            <a:cxnLst/>
            <a:rect r="r" b="b" t="t" l="l"/>
            <a:pathLst>
              <a:path h="1015236" w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43936" y="6686550"/>
            <a:ext cx="2443433" cy="3145613"/>
          </a:xfrm>
          <a:custGeom>
            <a:avLst/>
            <a:gdLst/>
            <a:ahLst/>
            <a:cxnLst/>
            <a:rect r="r" b="b" t="t" l="l"/>
            <a:pathLst>
              <a:path h="3145613" w="2443433">
                <a:moveTo>
                  <a:pt x="0" y="0"/>
                </a:moveTo>
                <a:lnTo>
                  <a:pt x="2443433" y="0"/>
                </a:lnTo>
                <a:lnTo>
                  <a:pt x="2443433" y="3145613"/>
                </a:lnTo>
                <a:lnTo>
                  <a:pt x="0" y="3145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61002" y="6591141"/>
            <a:ext cx="3233305" cy="3336431"/>
          </a:xfrm>
          <a:custGeom>
            <a:avLst/>
            <a:gdLst/>
            <a:ahLst/>
            <a:cxnLst/>
            <a:rect r="r" b="b" t="t" l="l"/>
            <a:pathLst>
              <a:path h="3336431" w="3233305">
                <a:moveTo>
                  <a:pt x="0" y="0"/>
                </a:moveTo>
                <a:lnTo>
                  <a:pt x="3233306" y="0"/>
                </a:lnTo>
                <a:lnTo>
                  <a:pt x="3233306" y="3336431"/>
                </a:lnTo>
                <a:lnTo>
                  <a:pt x="0" y="3336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3692" y="3762375"/>
            <a:ext cx="15900615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Uma comunidade merece destaque pela sua inesperada coesão: Curling e Tiro Esportivo foram agrupados juntos por compartilharem os descritores alvo e pontuação por precisão. Apesar de serem esportes superficialmente muito distintos, a Wikipedia os caracteriza com o mesmo vocabulário funcional, o que demonstra a capacidade do método de capturar semelhanças não óbvias.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7592" y="84922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244" y="5971033"/>
            <a:ext cx="3950208" cy="4114800"/>
          </a:xfrm>
          <a:custGeom>
            <a:avLst/>
            <a:gdLst/>
            <a:ahLst/>
            <a:cxnLst/>
            <a:rect r="r" b="b" t="t" l="l"/>
            <a:pathLst>
              <a:path h="4114800" w="3950208">
                <a:moveTo>
                  <a:pt x="0" y="0"/>
                </a:moveTo>
                <a:lnTo>
                  <a:pt x="3950208" y="0"/>
                </a:lnTo>
                <a:lnTo>
                  <a:pt x="3950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7795185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61108"/>
            <a:ext cx="14968963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Dados textuais da Wikipedia, combinados com análise de grafos, agruparam os esportes olímpicos de forma coerente e totalmente automatizada. Das 18 comunidades, a grande maioria corresponde a categorias intuitivamente corretas, validando tanto os dados extraídos quanto o algoritmo. O caso Curling–Tiro evidencia a capacidade do método de revelar afinidades funcionais latentes entre esportes aparentemente distantes.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9161" y="-353316"/>
            <a:ext cx="5954157" cy="11239916"/>
            <a:chOff x="0" y="0"/>
            <a:chExt cx="1568173" cy="2960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8173" cy="2960307"/>
            </a:xfrm>
            <a:custGeom>
              <a:avLst/>
              <a:gdLst/>
              <a:ahLst/>
              <a:cxnLst/>
              <a:rect r="r" b="b" t="t" l="l"/>
              <a:pathLst>
                <a:path h="2960307" w="1568173">
                  <a:moveTo>
                    <a:pt x="0" y="0"/>
                  </a:moveTo>
                  <a:lnTo>
                    <a:pt x="1568173" y="0"/>
                  </a:lnTo>
                  <a:lnTo>
                    <a:pt x="1568173" y="2960307"/>
                  </a:lnTo>
                  <a:lnTo>
                    <a:pt x="0" y="2960307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68173" cy="301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519658"/>
            <a:ext cx="7613364" cy="576205"/>
            <a:chOff x="0" y="0"/>
            <a:chExt cx="2005166" cy="151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5166" cy="151758"/>
            </a:xfrm>
            <a:custGeom>
              <a:avLst/>
              <a:gdLst/>
              <a:ahLst/>
              <a:cxnLst/>
              <a:rect r="r" b="b" t="t" l="l"/>
              <a:pathLst>
                <a:path h="151758" w="2005166">
                  <a:moveTo>
                    <a:pt x="0" y="0"/>
                  </a:moveTo>
                  <a:lnTo>
                    <a:pt x="2005166" y="0"/>
                  </a:lnTo>
                  <a:lnTo>
                    <a:pt x="2005166" y="151758"/>
                  </a:lnTo>
                  <a:lnTo>
                    <a:pt x="0" y="151758"/>
                  </a:lnTo>
                  <a:close/>
                </a:path>
              </a:pathLst>
            </a:custGeom>
            <a:ln w="38100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05166" cy="20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622875"/>
            <a:ext cx="635425" cy="635425"/>
          </a:xfrm>
          <a:custGeom>
            <a:avLst/>
            <a:gdLst/>
            <a:ahLst/>
            <a:cxnLst/>
            <a:rect r="r" b="b" t="t" l="l"/>
            <a:pathLst>
              <a:path h="635425" w="635425">
                <a:moveTo>
                  <a:pt x="0" y="0"/>
                </a:moveTo>
                <a:lnTo>
                  <a:pt x="635425" y="0"/>
                </a:lnTo>
                <a:lnTo>
                  <a:pt x="635425" y="635425"/>
                </a:lnTo>
                <a:lnTo>
                  <a:pt x="0" y="635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59820" y="2434430"/>
            <a:ext cx="6398682" cy="3199341"/>
          </a:xfrm>
          <a:custGeom>
            <a:avLst/>
            <a:gdLst/>
            <a:ahLst/>
            <a:cxnLst/>
            <a:rect r="r" b="b" t="t" l="l"/>
            <a:pathLst>
              <a:path h="3199341" w="6398682">
                <a:moveTo>
                  <a:pt x="0" y="0"/>
                </a:moveTo>
                <a:lnTo>
                  <a:pt x="6398682" y="0"/>
                </a:lnTo>
                <a:lnTo>
                  <a:pt x="6398682" y="3199341"/>
                </a:lnTo>
                <a:lnTo>
                  <a:pt x="0" y="3199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28090" y="6261133"/>
            <a:ext cx="4300872" cy="3658297"/>
          </a:xfrm>
          <a:custGeom>
            <a:avLst/>
            <a:gdLst/>
            <a:ahLst/>
            <a:cxnLst/>
            <a:rect r="r" b="b" t="t" l="l"/>
            <a:pathLst>
              <a:path h="3658297" w="4300872">
                <a:moveTo>
                  <a:pt x="0" y="0"/>
                </a:moveTo>
                <a:lnTo>
                  <a:pt x="4300872" y="0"/>
                </a:lnTo>
                <a:lnTo>
                  <a:pt x="4300872" y="3658297"/>
                </a:lnTo>
                <a:lnTo>
                  <a:pt x="0" y="3658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07576"/>
            <a:ext cx="10020426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0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 pela Atenção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902358"/>
            <a:ext cx="7446366" cy="3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38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Foi um projeto de muito aprendizado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812" y="6562028"/>
            <a:ext cx="822707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97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Grupo 11 - Tema D - EDA2 T01 2026.01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428976"/>
            <a:ext cx="5282524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FCTE/ UnB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DAHNDrN1pts</dc:identifier>
  <dcterms:modified xsi:type="dcterms:W3CDTF">2011-08-01T06:04:30Z</dcterms:modified>
  <cp:revision>1</cp:revision>
  <dc:title>slidesEDA2TemaD</dc:title>
</cp:coreProperties>
</file>